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Calibri (MS) Italics" charset="1" panose="020F05020202040A0204"/>
      <p:regular r:id="rId28"/>
    </p:embeddedFont>
    <p:embeddedFont>
      <p:font typeface="Montserrat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rive.google.com/file/d/1h4HZKdJRT7b0QVHJvefH0o15liKuR8yX/view?usp=sharing" TargetMode="External" Type="http://schemas.openxmlformats.org/officeDocument/2006/relationships/hyperlink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7A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1381" y="2820348"/>
            <a:ext cx="7625239" cy="109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b="true" sz="6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TEAM-5</a:t>
            </a:r>
            <a:r>
              <a:rPr lang="en-US" b="true" sz="6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Members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40575" y="5993380"/>
            <a:ext cx="6148896" cy="204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7FA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ejooraforke@gmail.com                                    esthermatthew2580@gmail.com                           </a:t>
            </a:r>
          </a:p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7FA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kayanimk11@gmail.com                                 ramakrishnajalalam@gmail.com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5166" y="5831282"/>
            <a:ext cx="4546163" cy="288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Aforke Ejoor </a:t>
            </a:r>
          </a:p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Esther Matthew </a:t>
            </a:r>
          </a:p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Momina Kayani</a:t>
            </a:r>
          </a:p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Ramakrishna Jalakam 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088714" y="4534201"/>
            <a:ext cx="1748195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3479" y="4550711"/>
            <a:ext cx="1843088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E-mail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4260" y="444205"/>
            <a:ext cx="13561934" cy="140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8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RIT</a:t>
            </a:r>
            <a:r>
              <a:rPr lang="en-US" b="true" sz="8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Insight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2011680"/>
            <a:ext cx="5852160" cy="658368"/>
            <a:chOff x="0" y="0"/>
            <a:chExt cx="7802880" cy="877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2011680"/>
            <a:ext cx="5852160" cy="658368"/>
            <a:chOff x="0" y="0"/>
            <a:chExt cx="7802880" cy="87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4 FINAL DELIVERABLE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2809875"/>
            <a:ext cx="16459200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 Insights &amp;</a:t>
            </a:r>
          </a:p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Recommendation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6379845"/>
            <a:ext cx="1261872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9EC5E8"/>
                </a:solidFill>
                <a:latin typeface="Calibri (MS)"/>
                <a:ea typeface="Calibri (MS)"/>
                <a:cs typeface="Calibri (MS)"/>
                <a:sym typeface="Calibri (MS)"/>
              </a:rPr>
              <a:t>RIT Opportunity-Wise Student Engagement Dataset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9EC5E8"/>
                </a:solidFill>
                <a:latin typeface="Calibri (MS)"/>
                <a:ea typeface="Calibri (MS)"/>
                <a:cs typeface="Calibri (MS)"/>
                <a:sym typeface="Calibri (MS)"/>
              </a:rPr>
              <a:t>Full Analytics Journey: Weeks 1 – 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5840" y="8412480"/>
            <a:ext cx="3840480" cy="1554480"/>
            <a:chOff x="0" y="0"/>
            <a:chExt cx="512064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8412480"/>
            <a:ext cx="3840480" cy="877824"/>
            <a:chOff x="0" y="0"/>
            <a:chExt cx="5120640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512064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8,558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9253728"/>
            <a:ext cx="3840480" cy="640080"/>
            <a:chOff x="0" y="0"/>
            <a:chExt cx="512064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EC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 Analysed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03520" y="8412480"/>
            <a:ext cx="3840480" cy="1554480"/>
            <a:chOff x="0" y="0"/>
            <a:chExt cx="512064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03520" y="8412480"/>
            <a:ext cx="3840480" cy="877824"/>
            <a:chOff x="0" y="0"/>
            <a:chExt cx="5120640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512064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47.2%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03520" y="9253728"/>
            <a:ext cx="3840480" cy="640080"/>
            <a:chOff x="0" y="0"/>
            <a:chExt cx="512064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EC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Success Rate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0" y="8412480"/>
            <a:ext cx="3840480" cy="1554480"/>
            <a:chOff x="0" y="0"/>
            <a:chExt cx="5120640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01200" y="8412480"/>
            <a:ext cx="3840480" cy="877824"/>
            <a:chOff x="0" y="0"/>
            <a:chExt cx="512064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12064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0.985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0" y="9253728"/>
            <a:ext cx="3840480" cy="640080"/>
            <a:chOff x="0" y="0"/>
            <a:chExt cx="512064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EC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 AUC-ROC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98880" y="8412480"/>
            <a:ext cx="3840480" cy="1554480"/>
            <a:chOff x="0" y="0"/>
            <a:chExt cx="5120640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898880" y="8412480"/>
            <a:ext cx="3840480" cy="877824"/>
            <a:chOff x="0" y="0"/>
            <a:chExt cx="512064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512064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898880" y="9253728"/>
            <a:ext cx="3840480" cy="640080"/>
            <a:chOff x="0" y="0"/>
            <a:chExt cx="512064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EC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Opportunities Scored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" r="0" b="-33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This Report Covers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011680"/>
            <a:ext cx="8229600" cy="2011680"/>
            <a:chOff x="0" y="0"/>
            <a:chExt cx="109728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011680"/>
            <a:ext cx="1005840" cy="2011680"/>
            <a:chOff x="0" y="0"/>
            <a:chExt cx="134112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011680"/>
            <a:ext cx="1005840" cy="2011680"/>
            <a:chOff x="0" y="0"/>
            <a:chExt cx="134112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3120" y="2194560"/>
            <a:ext cx="6858000" cy="768096"/>
            <a:chOff x="0" y="0"/>
            <a:chExt cx="914400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03120" y="2999232"/>
            <a:ext cx="6858000" cy="841248"/>
            <a:chOff x="0" y="0"/>
            <a:chExt cx="9144000" cy="1121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1 — structure, cleaning &amp; key statistics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92640" y="2011680"/>
            <a:ext cx="8229600" cy="2011680"/>
            <a:chOff x="0" y="0"/>
            <a:chExt cx="10972800" cy="2682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2640" y="2011680"/>
            <a:ext cx="1005840" cy="2011680"/>
            <a:chOff x="0" y="0"/>
            <a:chExt cx="134112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92640" y="2011680"/>
            <a:ext cx="1005840" cy="2011680"/>
            <a:chOff x="0" y="0"/>
            <a:chExt cx="1341120" cy="2682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81360" y="2194560"/>
            <a:ext cx="6858000" cy="768096"/>
            <a:chOff x="0" y="0"/>
            <a:chExt cx="914400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81360" y="2999232"/>
            <a:ext cx="6858000" cy="841248"/>
            <a:chOff x="0" y="0"/>
            <a:chExt cx="9144000" cy="11216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2 — participation patterns, geography, timing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4389120"/>
            <a:ext cx="8229600" cy="2011680"/>
            <a:chOff x="0" y="0"/>
            <a:chExt cx="10972800" cy="2682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4389120"/>
            <a:ext cx="1005840" cy="2011680"/>
            <a:chOff x="0" y="0"/>
            <a:chExt cx="1341120" cy="2682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389120"/>
            <a:ext cx="1005840" cy="2011680"/>
            <a:chOff x="0" y="0"/>
            <a:chExt cx="1341120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03120" y="4572000"/>
            <a:ext cx="6858000" cy="768096"/>
            <a:chOff x="0" y="0"/>
            <a:chExt cx="914400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Models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3120" y="5376672"/>
            <a:ext cx="6858000" cy="841248"/>
            <a:chOff x="0" y="0"/>
            <a:chExt cx="9144000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3 — 3 models, ensemble, AUC 0.985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4389120"/>
            <a:ext cx="8229600" cy="2011680"/>
            <a:chOff x="0" y="0"/>
            <a:chExt cx="10972800" cy="2682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692640" y="4389120"/>
            <a:ext cx="1005840" cy="2011680"/>
            <a:chOff x="0" y="0"/>
            <a:chExt cx="1341120" cy="26822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92640" y="4389120"/>
            <a:ext cx="1005840" cy="2011680"/>
            <a:chOff x="0" y="0"/>
            <a:chExt cx="1341120" cy="2682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81360" y="4572000"/>
            <a:ext cx="6858000" cy="768096"/>
            <a:chOff x="0" y="0"/>
            <a:chExt cx="9144000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Probabilities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881360" y="5376672"/>
            <a:ext cx="6858000" cy="841248"/>
            <a:chOff x="0" y="0"/>
            <a:chExt cx="9144000" cy="11216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22 opportunities ranked by likelihood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" y="6766560"/>
            <a:ext cx="8229600" cy="2011680"/>
            <a:chOff x="0" y="0"/>
            <a:chExt cx="10972800" cy="2682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6766560"/>
            <a:ext cx="1005840" cy="2011680"/>
            <a:chOff x="0" y="0"/>
            <a:chExt cx="1341120" cy="2682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6766560"/>
            <a:ext cx="1005840" cy="2011680"/>
            <a:chOff x="0" y="0"/>
            <a:chExt cx="1341120" cy="2682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103120" y="6949440"/>
            <a:ext cx="6858000" cy="768096"/>
            <a:chOff x="0" y="0"/>
            <a:chExt cx="914400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Strategic Recommendations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103120" y="7754112"/>
            <a:ext cx="6858000" cy="841248"/>
            <a:chOff x="0" y="0"/>
            <a:chExt cx="9144000" cy="1121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actionable improvements for program managers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92640" y="6766560"/>
            <a:ext cx="8229600" cy="2011680"/>
            <a:chOff x="0" y="0"/>
            <a:chExt cx="10972800" cy="2682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92640" y="6766560"/>
            <a:ext cx="1005840" cy="2011680"/>
            <a:chOff x="0" y="0"/>
            <a:chExt cx="1341120" cy="2682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5B2C8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6766560"/>
            <a:ext cx="1005840" cy="2011680"/>
            <a:chOff x="0" y="0"/>
            <a:chExt cx="1341120" cy="2682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341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81360" y="6949440"/>
            <a:ext cx="6858000" cy="768096"/>
            <a:chOff x="0" y="0"/>
            <a:chExt cx="914400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914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Measuring Impact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881360" y="7754112"/>
            <a:ext cx="6858000" cy="841248"/>
            <a:chOff x="0" y="0"/>
            <a:chExt cx="9144000" cy="1121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845" r="0" b="-1088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KPIs and success metrics for each recommendation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44503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7200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0100" y="832485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85216"/>
            <a:chOff x="0" y="0"/>
            <a:chExt cx="2194560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RIT Student Engagement Platform — 8,558 records across 22 opportunities (2022–2024)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286000"/>
            <a:ext cx="3931920" cy="2103120"/>
            <a:chOff x="0" y="0"/>
            <a:chExt cx="5242560" cy="2804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425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505456"/>
            <a:ext cx="3931920" cy="1156716"/>
            <a:chOff x="0" y="0"/>
            <a:chExt cx="5242560" cy="1542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2560" cy="1542288"/>
            </a:xfrm>
            <a:custGeom>
              <a:avLst/>
              <a:gdLst/>
              <a:ahLst/>
              <a:cxnLst/>
              <a:rect r="r" b="b" t="t" l="l"/>
              <a:pathLst>
                <a:path h="1542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42288"/>
                  </a:lnTo>
                  <a:lnTo>
                    <a:pt x="0" y="1542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3" r="0" b="-162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5242560" cy="1666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8,558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505810"/>
            <a:ext cx="3931920" cy="799186"/>
            <a:chOff x="0" y="0"/>
            <a:chExt cx="5242560" cy="10655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42560" cy="1065581"/>
            </a:xfrm>
            <a:custGeom>
              <a:avLst/>
              <a:gdLst/>
              <a:ahLst/>
              <a:cxnLst/>
              <a:rect r="r" b="b" t="t" l="l"/>
              <a:pathLst>
                <a:path h="10655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65581"/>
                  </a:lnTo>
                  <a:lnTo>
                    <a:pt x="0" y="1065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864" r="0" b="-458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242560" cy="1113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Records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66944" y="2286000"/>
            <a:ext cx="3931920" cy="2103120"/>
            <a:chOff x="0" y="0"/>
            <a:chExt cx="5242560" cy="2804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425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D5EA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266944" y="2505456"/>
            <a:ext cx="3931920" cy="1156716"/>
            <a:chOff x="0" y="0"/>
            <a:chExt cx="5242560" cy="1542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42560" cy="1542288"/>
            </a:xfrm>
            <a:custGeom>
              <a:avLst/>
              <a:gdLst/>
              <a:ahLst/>
              <a:cxnLst/>
              <a:rect r="r" b="b" t="t" l="l"/>
              <a:pathLst>
                <a:path h="1542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42288"/>
                  </a:lnTo>
                  <a:lnTo>
                    <a:pt x="0" y="1542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3" r="0" b="-162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242560" cy="1666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~3,850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66944" y="3505810"/>
            <a:ext cx="3931920" cy="799186"/>
            <a:chOff x="0" y="0"/>
            <a:chExt cx="5242560" cy="10655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42560" cy="1065581"/>
            </a:xfrm>
            <a:custGeom>
              <a:avLst/>
              <a:gdLst/>
              <a:ahLst/>
              <a:cxnLst/>
              <a:rect r="r" b="b" t="t" l="l"/>
              <a:pathLst>
                <a:path h="10655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65581"/>
                  </a:lnTo>
                  <a:lnTo>
                    <a:pt x="0" y="1065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864" r="0" b="-458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242560" cy="1113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Students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19488" y="2286000"/>
            <a:ext cx="3931920" cy="2103120"/>
            <a:chOff x="0" y="0"/>
            <a:chExt cx="5242560" cy="2804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425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19488" y="2505456"/>
            <a:ext cx="3931920" cy="1156716"/>
            <a:chOff x="0" y="0"/>
            <a:chExt cx="5242560" cy="1542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42560" cy="1542288"/>
            </a:xfrm>
            <a:custGeom>
              <a:avLst/>
              <a:gdLst/>
              <a:ahLst/>
              <a:cxnLst/>
              <a:rect r="r" b="b" t="t" l="l"/>
              <a:pathLst>
                <a:path h="1542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42288"/>
                  </a:lnTo>
                  <a:lnTo>
                    <a:pt x="0" y="1542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3" r="0" b="-162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23825"/>
              <a:ext cx="5242560" cy="1666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E84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19488" y="3505810"/>
            <a:ext cx="3931920" cy="799186"/>
            <a:chOff x="0" y="0"/>
            <a:chExt cx="5242560" cy="10655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42560" cy="1065581"/>
            </a:xfrm>
            <a:custGeom>
              <a:avLst/>
              <a:gdLst/>
              <a:ahLst/>
              <a:cxnLst/>
              <a:rect r="r" b="b" t="t" l="l"/>
              <a:pathLst>
                <a:path h="10655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65581"/>
                  </a:lnTo>
                  <a:lnTo>
                    <a:pt x="0" y="1065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864" r="0" b="-4586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242560" cy="1113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Opportunities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72032" y="2286000"/>
            <a:ext cx="3931920" cy="2103120"/>
            <a:chOff x="0" y="0"/>
            <a:chExt cx="5242560" cy="2804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25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72032" y="2505456"/>
            <a:ext cx="3931920" cy="1156716"/>
            <a:chOff x="0" y="0"/>
            <a:chExt cx="5242560" cy="1542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42560" cy="1542288"/>
            </a:xfrm>
            <a:custGeom>
              <a:avLst/>
              <a:gdLst/>
              <a:ahLst/>
              <a:cxnLst/>
              <a:rect r="r" b="b" t="t" l="l"/>
              <a:pathLst>
                <a:path h="1542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542288"/>
                  </a:lnTo>
                  <a:lnTo>
                    <a:pt x="0" y="1542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3" r="0" b="-162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23825"/>
              <a:ext cx="5242560" cy="1666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D471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72032" y="3505810"/>
            <a:ext cx="3931920" cy="799186"/>
            <a:chOff x="0" y="0"/>
            <a:chExt cx="5242560" cy="10655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42560" cy="1065581"/>
            </a:xfrm>
            <a:custGeom>
              <a:avLst/>
              <a:gdLst/>
              <a:ahLst/>
              <a:cxnLst/>
              <a:rect r="r" b="b" t="t" l="l"/>
              <a:pathLst>
                <a:path h="1065581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65581"/>
                  </a:lnTo>
                  <a:lnTo>
                    <a:pt x="0" y="1065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864" r="0" b="-4586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242560" cy="1113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4754880"/>
            <a:ext cx="8229600" cy="694944"/>
            <a:chOff x="0" y="0"/>
            <a:chExt cx="1097280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Opportunity Categories</a:t>
              </a:r>
            </a:p>
          </p:txBody>
        </p:sp>
      </p:grpSp>
      <p:graphicFrame>
        <p:nvGraphicFramePr>
          <p:cNvPr name="Table 51" id="51"/>
          <p:cNvGraphicFramePr>
            <a:graphicFrameLocks noGrp="true"/>
          </p:cNvGraphicFramePr>
          <p:nvPr/>
        </p:nvGraphicFramePr>
        <p:xfrm>
          <a:off x="914400" y="5486400"/>
          <a:ext cx="8229600" cy="4267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Success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96.9%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545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94.1%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Course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2,037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Competition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84.2%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5,421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41218" y="4399660"/>
            <a:ext cx="8926081" cy="6504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44503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7200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0100" y="826770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9456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Analysis — Key Findings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85216"/>
            <a:chOff x="0" y="0"/>
            <a:chExt cx="2194560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analytical dimensions explored — strongest signals identified for ML modeling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91440" y="1188720"/>
            <a:ext cx="12070080" cy="877824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1521440" y="2194560"/>
            <a:ext cx="6126480" cy="2286000"/>
            <a:chOff x="0" y="0"/>
            <a:chExt cx="816864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686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21440" y="2194560"/>
            <a:ext cx="914400" cy="2286000"/>
            <a:chOff x="0" y="0"/>
            <a:chExt cx="1219200" cy="304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1920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📌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35840" y="2194560"/>
            <a:ext cx="5212080" cy="2286000"/>
            <a:chOff x="0" y="0"/>
            <a:chExt cx="6949440" cy="304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73" t="0" r="-627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94944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Opportunity Category is the #1 predictor — ranges from 21.5% (Internship) to 96.9% (Engagement)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21440" y="2194560"/>
            <a:ext cx="109728" cy="2286000"/>
            <a:chOff x="0" y="0"/>
            <a:chExt cx="146304" cy="30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" cy="3048000"/>
            </a:xfrm>
            <a:custGeom>
              <a:avLst/>
              <a:gdLst/>
              <a:ahLst/>
              <a:cxnLst/>
              <a:rect r="r" b="b" t="t" l="l"/>
              <a:pathLst>
                <a:path h="3048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521440" y="4846320"/>
            <a:ext cx="6126480" cy="2286000"/>
            <a:chOff x="0" y="0"/>
            <a:chExt cx="8168640" cy="304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686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1440" y="4846320"/>
            <a:ext cx="914400" cy="2286000"/>
            <a:chOff x="0" y="0"/>
            <a:chExt cx="1219200" cy="304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1920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⏱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35840" y="4846320"/>
            <a:ext cx="5212080" cy="2286000"/>
            <a:chOff x="0" y="0"/>
            <a:chExt cx="6949440" cy="304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73" t="0" r="-627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94944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Deliberate applicants (30–90 days after signup) achieve 53.9% success — best of any timing group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21440" y="4846320"/>
            <a:ext cx="109728" cy="2286000"/>
            <a:chOff x="0" y="0"/>
            <a:chExt cx="146304" cy="304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" cy="3048000"/>
            </a:xfrm>
            <a:custGeom>
              <a:avLst/>
              <a:gdLst/>
              <a:ahLst/>
              <a:cxnLst/>
              <a:rect r="r" b="b" t="t" l="l"/>
              <a:pathLst>
                <a:path h="3048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521440" y="7498080"/>
            <a:ext cx="6126480" cy="2286000"/>
            <a:chOff x="0" y="0"/>
            <a:chExt cx="8168640" cy="304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686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ADBD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21440" y="7498080"/>
            <a:ext cx="914400" cy="2286000"/>
            <a:chOff x="0" y="0"/>
            <a:chExt cx="1219200" cy="3048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21920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35840" y="7498080"/>
            <a:ext cx="5212080" cy="2286000"/>
            <a:chOff x="0" y="0"/>
            <a:chExt cx="6949440" cy="3048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494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73" t="0" r="-627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94944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 2024 anomaly: 1,509 apps but only 27.0% success — a single Internship flooded the pipeline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521440" y="7498080"/>
            <a:ext cx="109728" cy="2286000"/>
            <a:chOff x="0" y="0"/>
            <a:chExt cx="146304" cy="3048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" cy="3048000"/>
            </a:xfrm>
            <a:custGeom>
              <a:avLst/>
              <a:gdLst/>
              <a:ahLst/>
              <a:cxnLst/>
              <a:rect r="r" b="b" t="t" l="l"/>
              <a:pathLst>
                <a:path h="3048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44503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7200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914400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60"/>
                </a:lnSpc>
              </a:pPr>
              <a:r>
                <a:rPr lang="en-US" sz="48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Geographic &amp; Demographic Insights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46304" y="768096"/>
            <a:ext cx="12728448" cy="9253728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14400" y="1920240"/>
            <a:ext cx="128016" cy="1005840"/>
            <a:chOff x="0" y="0"/>
            <a:chExt cx="170688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" y="1920240"/>
            <a:ext cx="7315200" cy="1005840"/>
            <a:chOff x="0" y="0"/>
            <a:chExt cx="97536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Gender Breakdown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21440" y="2743200"/>
            <a:ext cx="2926080" cy="2011680"/>
            <a:chOff x="0" y="0"/>
            <a:chExt cx="390144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21440" y="2779776"/>
            <a:ext cx="2926080" cy="585216"/>
            <a:chOff x="0" y="0"/>
            <a:chExt cx="390144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901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21440" y="3364992"/>
            <a:ext cx="2926080" cy="658368"/>
            <a:chOff x="0" y="0"/>
            <a:chExt cx="390144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1440" cy="877824"/>
            </a:xfrm>
            <a:custGeom>
              <a:avLst/>
              <a:gdLst/>
              <a:ahLst/>
              <a:cxnLst/>
              <a:rect r="r" b="b" t="t" l="l"/>
              <a:pathLst>
                <a:path h="87782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901440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5,018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21440" y="4023360"/>
            <a:ext cx="2926080" cy="585216"/>
            <a:chOff x="0" y="0"/>
            <a:chExt cx="390144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46.2% success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721840" y="2743200"/>
            <a:ext cx="2926080" cy="2011680"/>
            <a:chOff x="0" y="0"/>
            <a:chExt cx="3901440" cy="2682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E0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721840" y="2779776"/>
            <a:ext cx="2926080" cy="585216"/>
            <a:chOff x="0" y="0"/>
            <a:chExt cx="390144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901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Female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21840" y="3364992"/>
            <a:ext cx="2926080" cy="658368"/>
            <a:chOff x="0" y="0"/>
            <a:chExt cx="390144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877824"/>
            </a:xfrm>
            <a:custGeom>
              <a:avLst/>
              <a:gdLst/>
              <a:ahLst/>
              <a:cxnLst/>
              <a:rect r="r" b="b" t="t" l="l"/>
              <a:pathLst>
                <a:path h="87782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3901440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3,522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721840" y="4023360"/>
            <a:ext cx="2926080" cy="585216"/>
            <a:chOff x="0" y="0"/>
            <a:chExt cx="390144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48.6% success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5212080"/>
            <a:ext cx="128016" cy="1005840"/>
            <a:chOff x="0" y="0"/>
            <a:chExt cx="170688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5212080"/>
            <a:ext cx="7315200" cy="1005840"/>
            <a:chOff x="0" y="0"/>
            <a:chExt cx="975360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7536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Academic Majors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21440" y="6035040"/>
            <a:ext cx="6126480" cy="804672"/>
            <a:chOff x="0" y="0"/>
            <a:chExt cx="8168640" cy="10728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68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1440" y="6035040"/>
            <a:ext cx="3896439" cy="804672"/>
            <a:chOff x="0" y="0"/>
            <a:chExt cx="5195252" cy="10728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95316" cy="1072896"/>
            </a:xfrm>
            <a:custGeom>
              <a:avLst/>
              <a:gdLst/>
              <a:ahLst/>
              <a:cxnLst/>
              <a:rect r="r" b="b" t="t" l="l"/>
              <a:pathLst>
                <a:path h="1072896" w="5195316">
                  <a:moveTo>
                    <a:pt x="0" y="0"/>
                  </a:moveTo>
                  <a:lnTo>
                    <a:pt x="5195316" y="0"/>
                  </a:lnTo>
                  <a:lnTo>
                    <a:pt x="519531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8449">
                <a:alpha val="8627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31168" y="6053328"/>
            <a:ext cx="4206240" cy="768096"/>
            <a:chOff x="0" y="0"/>
            <a:chExt cx="56083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3" r="0" b="-5670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608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Health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0" y="6053328"/>
            <a:ext cx="1097280" cy="768096"/>
            <a:chOff x="0" y="0"/>
            <a:chExt cx="146304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3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84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63.6%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521440" y="6986016"/>
            <a:ext cx="6126480" cy="804672"/>
            <a:chOff x="0" y="0"/>
            <a:chExt cx="8168640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68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21440" y="6986016"/>
            <a:ext cx="3369564" cy="804672"/>
            <a:chOff x="0" y="0"/>
            <a:chExt cx="4492752" cy="107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92752" cy="1072896"/>
            </a:xfrm>
            <a:custGeom>
              <a:avLst/>
              <a:gdLst/>
              <a:ahLst/>
              <a:cxnLst/>
              <a:rect r="r" b="b" t="t" l="l"/>
              <a:pathLst>
                <a:path h="1072896" w="4492752">
                  <a:moveTo>
                    <a:pt x="0" y="0"/>
                  </a:moveTo>
                  <a:lnTo>
                    <a:pt x="4492752" y="0"/>
                  </a:lnTo>
                  <a:lnTo>
                    <a:pt x="4492752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2E75B6">
                <a:alpha val="8627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631168" y="7004304"/>
            <a:ext cx="4206240" cy="768096"/>
            <a:chOff x="0" y="0"/>
            <a:chExt cx="560832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608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3" r="0" b="-5670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608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 &amp; Info Systems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459200" y="7004304"/>
            <a:ext cx="1097280" cy="768096"/>
            <a:chOff x="0" y="0"/>
            <a:chExt cx="146304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463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55.0%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521440" y="7936992"/>
            <a:ext cx="6126480" cy="804672"/>
            <a:chOff x="0" y="0"/>
            <a:chExt cx="8168640" cy="10728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68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521440" y="7936992"/>
            <a:ext cx="3026483" cy="804672"/>
            <a:chOff x="0" y="0"/>
            <a:chExt cx="4035311" cy="10728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35298" cy="1072896"/>
            </a:xfrm>
            <a:custGeom>
              <a:avLst/>
              <a:gdLst/>
              <a:ahLst/>
              <a:cxnLst/>
              <a:rect r="r" b="b" t="t" l="l"/>
              <a:pathLst>
                <a:path h="1072896" w="4035298">
                  <a:moveTo>
                    <a:pt x="0" y="0"/>
                  </a:moveTo>
                  <a:lnTo>
                    <a:pt x="4035298" y="0"/>
                  </a:lnTo>
                  <a:lnTo>
                    <a:pt x="403529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2E75B6">
                <a:alpha val="8627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631168" y="7955280"/>
            <a:ext cx="4206240" cy="768096"/>
            <a:chOff x="0" y="0"/>
            <a:chExt cx="560832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608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3" r="0" b="-5670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608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Science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459200" y="7955280"/>
            <a:ext cx="1097280" cy="768096"/>
            <a:chOff x="0" y="0"/>
            <a:chExt cx="1463040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463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49.4%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521440" y="8887968"/>
            <a:ext cx="6126480" cy="804672"/>
            <a:chOff x="0" y="0"/>
            <a:chExt cx="8168640" cy="10728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68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521440" y="8887968"/>
            <a:ext cx="2242290" cy="804672"/>
            <a:chOff x="0" y="0"/>
            <a:chExt cx="2989720" cy="10728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8970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89707">
                  <a:moveTo>
                    <a:pt x="0" y="0"/>
                  </a:moveTo>
                  <a:lnTo>
                    <a:pt x="2989707" y="0"/>
                  </a:lnTo>
                  <a:lnTo>
                    <a:pt x="298970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C0392B">
                <a:alpha val="8627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631168" y="8906256"/>
            <a:ext cx="4206240" cy="768096"/>
            <a:chOff x="0" y="0"/>
            <a:chExt cx="560832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08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3" r="0" b="-5670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608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Information Systems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459200" y="8906256"/>
            <a:ext cx="1097280" cy="768096"/>
            <a:chOff x="0" y="0"/>
            <a:chExt cx="1463040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463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36.6%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44503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7200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855345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60"/>
                </a:lnSpc>
              </a:pPr>
              <a:r>
                <a:rPr lang="en-US" sz="48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— Three Models Trained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85216"/>
            <a:chOff x="0" y="0"/>
            <a:chExt cx="2194560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models trained on 16 engineered features | 80/20 stratified split | Class-balanced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194560"/>
            <a:ext cx="5303520" cy="5303520"/>
            <a:chOff x="0" y="0"/>
            <a:chExt cx="7071360" cy="7071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194560"/>
            <a:ext cx="5303520" cy="1316736"/>
            <a:chOff x="0" y="0"/>
            <a:chExt cx="7071360" cy="1755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194560"/>
            <a:ext cx="5303520" cy="658368"/>
            <a:chOff x="0" y="0"/>
            <a:chExt cx="707136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71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852928"/>
            <a:ext cx="5303520" cy="658368"/>
            <a:chOff x="0" y="0"/>
            <a:chExt cx="707136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713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88720" y="3609975"/>
            <a:ext cx="475488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Interpretable baseline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max_iter=1000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class_weight=balanced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StandardScaler applied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83680" y="2194560"/>
            <a:ext cx="5303520" cy="5303520"/>
            <a:chOff x="0" y="0"/>
            <a:chExt cx="7071360" cy="7071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583680" y="2194560"/>
            <a:ext cx="5303520" cy="1316736"/>
            <a:chOff x="0" y="0"/>
            <a:chExt cx="707136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2194560"/>
            <a:ext cx="5303520" cy="658368"/>
            <a:chOff x="0" y="0"/>
            <a:chExt cx="7071360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071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83680" y="2852928"/>
            <a:ext cx="5303520" cy="658368"/>
            <a:chOff x="0" y="0"/>
            <a:chExt cx="7071360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0713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Forest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858000" y="3609975"/>
            <a:ext cx="475488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300 decision trees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max_depth=12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min_samples_leaf=5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class_weight=balanced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252960" y="2194560"/>
            <a:ext cx="5303520" cy="5303520"/>
            <a:chOff x="0" y="0"/>
            <a:chExt cx="7071360" cy="7071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2194560"/>
            <a:ext cx="5303520" cy="1316736"/>
            <a:chOff x="0" y="0"/>
            <a:chExt cx="7071360" cy="1755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52960" y="2194560"/>
            <a:ext cx="5303520" cy="658368"/>
            <a:chOff x="0" y="0"/>
            <a:chExt cx="707136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071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52960" y="2852928"/>
            <a:ext cx="5303520" cy="658368"/>
            <a:chOff x="0" y="0"/>
            <a:chExt cx="707136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877824"/>
            </a:xfrm>
            <a:custGeom>
              <a:avLst/>
              <a:gdLst/>
              <a:ahLst/>
              <a:cxnLst/>
              <a:rect r="r" b="b" t="t" l="l"/>
              <a:pathLst>
                <a:path h="8778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62" r="0" b="-1069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0713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527280" y="3609975"/>
            <a:ext cx="475488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300 boosting rounds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learning_rate=0.05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subsample=0.80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scale_pos_weight=auto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" y="7827264"/>
            <a:ext cx="16642080" cy="1920240"/>
            <a:chOff x="0" y="0"/>
            <a:chExt cx="22189440" cy="2560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94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5840" y="7863840"/>
            <a:ext cx="5120640" cy="877824"/>
            <a:chOff x="0" y="0"/>
            <a:chExt cx="6827520" cy="11704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682752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 ENSEMBLE STRATEGY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217920" y="7863840"/>
            <a:ext cx="10972800" cy="877824"/>
            <a:chOff x="0" y="0"/>
            <a:chExt cx="14630400" cy="11704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46304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EC5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 50%  +  Random Forest  35%  +  Logistic Regression  15%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5840" y="8741664"/>
            <a:ext cx="16459200" cy="768096"/>
            <a:chOff x="0" y="0"/>
            <a:chExt cx="2194560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6E4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Ensemble AUC-ROC: 0.985 — Outstanding Classification Performance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4241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174241"/>
            <a:ext cx="3291840" cy="597913"/>
            <a:chOff x="0" y="0"/>
            <a:chExt cx="4389120" cy="7972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97217"/>
            </a:xfrm>
            <a:custGeom>
              <a:avLst/>
              <a:gdLst/>
              <a:ahLst/>
              <a:cxnLst/>
              <a:rect r="r" b="b" t="t" l="l"/>
              <a:pathLst>
                <a:path h="79721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97217"/>
                  </a:lnTo>
                  <a:lnTo>
                    <a:pt x="0" y="7972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37" r="0" b="-562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35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84860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9456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Results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19456" y="694944"/>
            <a:ext cx="13606272" cy="8851392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2801600" y="1828800"/>
            <a:ext cx="4754880" cy="2743200"/>
            <a:chOff x="0" y="0"/>
            <a:chExt cx="633984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0" y="1920240"/>
            <a:ext cx="4754880" cy="731520"/>
            <a:chOff x="0" y="0"/>
            <a:chExt cx="63398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84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5-Fold CV AUC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01600" y="2706624"/>
            <a:ext cx="4754880" cy="658368"/>
            <a:chOff x="0" y="0"/>
            <a:chExt cx="6339840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339840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RF: 0.985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0" y="3364992"/>
            <a:ext cx="4754880" cy="658368"/>
            <a:chOff x="0" y="0"/>
            <a:chExt cx="6339840" cy="8778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339840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XGB: 0.985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01600" y="4023360"/>
            <a:ext cx="4754880" cy="475488"/>
            <a:chOff x="0" y="0"/>
            <a:chExt cx="6339840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E84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overfitting detected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01600" y="4937760"/>
            <a:ext cx="4754880" cy="3474720"/>
            <a:chOff x="0" y="0"/>
            <a:chExt cx="6339840" cy="463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801600" y="5029200"/>
            <a:ext cx="4754880" cy="1005840"/>
            <a:chOff x="0" y="0"/>
            <a:chExt cx="633984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3398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893040" y="6071616"/>
            <a:ext cx="4572000" cy="2194560"/>
            <a:chOff x="0" y="0"/>
            <a:chExt cx="6096000" cy="292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09600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True Positive Rate: 95.1%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True Negative Rate: 93.7%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False Negative: only 40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(out of 813 successes)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8814816"/>
            <a:ext cx="16642080" cy="1060704"/>
            <a:chOff x="0" y="0"/>
            <a:chExt cx="22189440" cy="14142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8851392"/>
            <a:ext cx="16459200" cy="987552"/>
            <a:chOff x="0" y="0"/>
            <a:chExt cx="21945600" cy="1316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19456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 Benchmark Scale:   &lt;0.70 = Poor   |   0.70–0.80 = Fair   |   0.80–0.90 = Good   |   0.90–0.97 = Excellent   |   0.97–1.00 = Outstanding 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9189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151886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49808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sz="49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Importance — What Drives Predictions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82880" y="731520"/>
            <a:ext cx="13167360" cy="1024128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2344400" y="1828800"/>
            <a:ext cx="5212080" cy="2468880"/>
            <a:chOff x="0" y="0"/>
            <a:chExt cx="6949440" cy="3291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9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0" y="1828800"/>
            <a:ext cx="128016" cy="2468880"/>
            <a:chOff x="0" y="0"/>
            <a:chExt cx="170688" cy="3291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63856" y="1975104"/>
            <a:ext cx="4754880" cy="658368"/>
            <a:chOff x="0" y="0"/>
            <a:chExt cx="6339840" cy="877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3398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Duration Band (0.582)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63856" y="2633472"/>
            <a:ext cx="4754880" cy="1499616"/>
            <a:chOff x="0" y="0"/>
            <a:chExt cx="6339840" cy="19994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39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81" r="0" b="-117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39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Strongest predictor — encodes opportunity intensity. Proxy for Category: Long = Internship, Short = Event.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0" y="4535424"/>
            <a:ext cx="5212080" cy="2468880"/>
            <a:chOff x="0" y="0"/>
            <a:chExt cx="6949440" cy="3291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49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0" y="4535424"/>
            <a:ext cx="128016" cy="2468880"/>
            <a:chOff x="0" y="0"/>
            <a:chExt cx="170688" cy="3291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63856" y="4681728"/>
            <a:ext cx="4754880" cy="658368"/>
            <a:chOff x="0" y="0"/>
            <a:chExt cx="6339840" cy="877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3398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Opp. Category (0.244)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63856" y="5340096"/>
            <a:ext cx="4754880" cy="1499616"/>
            <a:chOff x="0" y="0"/>
            <a:chExt cx="6339840" cy="19994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81" r="0" b="-1178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339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Second most important — confirms EDA finding. Together with Duration Band accounts for ~82% of model power.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0" y="7242048"/>
            <a:ext cx="5212080" cy="2468880"/>
            <a:chOff x="0" y="0"/>
            <a:chExt cx="6949440" cy="3291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0" y="7242048"/>
            <a:ext cx="128016" cy="2468880"/>
            <a:chOff x="0" y="0"/>
            <a:chExt cx="170688" cy="3291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63856" y="7388352"/>
            <a:ext cx="4754880" cy="658368"/>
            <a:chOff x="0" y="0"/>
            <a:chExt cx="633984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3398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Apply Year (0.092 XGB)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63856" y="8046720"/>
            <a:ext cx="4754880" cy="1499616"/>
            <a:chOff x="0" y="0"/>
            <a:chExt cx="6339840" cy="1999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81" r="0" b="-117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339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elevates this to Medium — captures year-over-year competitive shift (2024 cohort hardest).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84846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297543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749813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60"/>
                </a:lnSpc>
              </a:pPr>
              <a:r>
                <a:rPr lang="en-US" sz="43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Participation Probabilities — All 22 Opportunities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Model | XGBoost 50% + Random Forest 35% + LR 15% | Platform Average: 47.2%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103120"/>
          <a:ext cx="14782800" cy="7772400"/>
        </p:xfrm>
        <a:graphic>
          <a:graphicData uri="http://schemas.openxmlformats.org/drawingml/2006/table">
            <a:tbl>
              <a:tblPr/>
              <a:tblGrid>
                <a:gridCol w="6370070"/>
                <a:gridCol w="2466322"/>
                <a:gridCol w="2193967"/>
                <a:gridCol w="1830828"/>
                <a:gridCol w="1921613"/>
              </a:tblGrid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Opportunity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Predicted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Actual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UrbanRenew Challenge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Competition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97.8%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UX Redesign Challenge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Competition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97.2%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96.7%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Xperience Design Hackathon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97.4%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Join a Student Organisation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96.6%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97.5%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 Start: Emotional Intel...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95.6%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96.4%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Career Essentials Course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Upload Your First Year Trans..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89.3%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88.9%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Startup Mastery Workshop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Course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87.7%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94.7%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CPR/AED Certification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Course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86.0%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64.1%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Freelance Mastery Workshop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Course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93.7%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Mental &amp; Physical Health Ses...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82.4%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92.5%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27AE6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Health Care Management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4710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54.3%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54.8%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D4710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Innovation &amp; Entrepreneurship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14.3%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Visualization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18.5%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 Management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18.5%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Digital Marketing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16.8%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64748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13.4%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55572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168269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763905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sz="49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Participation Heatmap Insights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probability by Category × Cohort and Category × Academic Major Group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5171" y="2307675"/>
            <a:ext cx="7863840" cy="559206"/>
            <a:chOff x="0" y="0"/>
            <a:chExt cx="1097280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× Cohort Period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55171" y="2919307"/>
          <a:ext cx="7863840" cy="3786293"/>
        </p:xfrm>
        <a:graphic>
          <a:graphicData uri="http://schemas.openxmlformats.org/drawingml/2006/table">
            <a:tbl>
              <a:tblPr/>
              <a:tblGrid>
                <a:gridCol w="2605345"/>
                <a:gridCol w="1314624"/>
                <a:gridCol w="1314624"/>
                <a:gridCol w="1314624"/>
                <a:gridCol w="1314624"/>
              </a:tblGrid>
              <a:tr h="631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Category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2022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2023-H1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2023-H2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2024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31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Engagement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31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Event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93%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31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Course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98%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76%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10A"/>
                    </a:solidFill>
                  </a:tcPr>
                </a:tc>
              </a:tr>
              <a:tr h="631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Competition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88%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90%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98%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31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Internship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22%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27%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24%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3"/>
                        </a:lnSpc>
                        <a:defRPr/>
                      </a:pPr>
                      <a:r>
                        <a:rPr lang="en-US" sz="191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12%</a:t>
                      </a:r>
                      <a:endParaRPr lang="en-US" sz="1100"/>
                    </a:p>
                  </a:txBody>
                  <a:tcPr marL="87376" marR="87376" marT="87376" marB="87376" anchor="t">
                    <a:lnL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068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8961120" y="2307675"/>
            <a:ext cx="7701334" cy="547650"/>
            <a:chOff x="0" y="0"/>
            <a:chExt cx="109728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972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× Academic Major Group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8961120" y="2906667"/>
          <a:ext cx="8961120" cy="3708050"/>
        </p:xfrm>
        <a:graphic>
          <a:graphicData uri="http://schemas.openxmlformats.org/drawingml/2006/table">
            <a:tbl>
              <a:tblPr/>
              <a:tblGrid>
                <a:gridCol w="2270335"/>
                <a:gridCol w="1338157"/>
                <a:gridCol w="1338157"/>
                <a:gridCol w="1338157"/>
                <a:gridCol w="1338157"/>
                <a:gridCol w="1338157"/>
              </a:tblGrid>
              <a:tr h="618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Category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Computing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Health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Business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Engineering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33"/>
                        </a:lnSpc>
                        <a:defRPr/>
                      </a:pPr>
                      <a:r>
                        <a:rPr lang="en-US" sz="1778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Other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18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Engagement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97%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96%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18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Event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18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Course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92%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92%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18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Competition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88%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87%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90%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83%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618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Internship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19%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25%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23%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32%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5"/>
                        </a:lnSpc>
                        <a:defRPr/>
                      </a:pPr>
                      <a:r>
                        <a:rPr lang="en-US" sz="187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14%</a:t>
                      </a:r>
                      <a:endParaRPr lang="en-US" sz="1100"/>
                    </a:p>
                  </a:txBody>
                  <a:tcPr marL="85570" marR="85570" marT="85570" marB="85570" anchor="t">
                    <a:lnL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942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grpSp>
        <p:nvGrpSpPr>
          <p:cNvPr name="Group 24" id="24"/>
          <p:cNvGrpSpPr/>
          <p:nvPr/>
        </p:nvGrpSpPr>
        <p:grpSpPr>
          <a:xfrm rot="0">
            <a:off x="914400" y="7040880"/>
            <a:ext cx="4023360" cy="640080"/>
            <a:chOff x="0" y="0"/>
            <a:chExt cx="536448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7040880"/>
            <a:ext cx="548640" cy="640080"/>
            <a:chOff x="0" y="0"/>
            <a:chExt cx="73152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5920" y="7059168"/>
            <a:ext cx="3291840" cy="603504"/>
            <a:chOff x="0" y="0"/>
            <a:chExt cx="4389120" cy="8046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0" cy="804672"/>
            </a:xfrm>
            <a:custGeom>
              <a:avLst/>
              <a:gdLst/>
              <a:ahLst/>
              <a:cxnLst/>
              <a:rect r="r" b="b" t="t" l="l"/>
              <a:pathLst>
                <a:path h="80467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3891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≥80% (High)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94960" y="7040880"/>
            <a:ext cx="4023360" cy="640080"/>
            <a:chOff x="0" y="0"/>
            <a:chExt cx="536448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394960" y="7040880"/>
            <a:ext cx="548640" cy="640080"/>
            <a:chOff x="0" y="0"/>
            <a:chExt cx="73152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26480" y="7059168"/>
            <a:ext cx="3291840" cy="603504"/>
            <a:chOff x="0" y="0"/>
            <a:chExt cx="4389120" cy="804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804672"/>
            </a:xfrm>
            <a:custGeom>
              <a:avLst/>
              <a:gdLst/>
              <a:ahLst/>
              <a:cxnLst/>
              <a:rect r="r" b="b" t="t" l="l"/>
              <a:pathLst>
                <a:path h="80467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3891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50–79% (Medium)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7040880"/>
            <a:ext cx="4023360" cy="640080"/>
            <a:chOff x="0" y="0"/>
            <a:chExt cx="536448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ADBD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7040880"/>
            <a:ext cx="548640" cy="640080"/>
            <a:chOff x="0" y="0"/>
            <a:chExt cx="7315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0" y="7059168"/>
            <a:ext cx="3291840" cy="603504"/>
            <a:chOff x="0" y="0"/>
            <a:chExt cx="4389120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0" cy="804672"/>
            </a:xfrm>
            <a:custGeom>
              <a:avLst/>
              <a:gdLst/>
              <a:ahLst/>
              <a:cxnLst/>
              <a:rect r="r" b="b" t="t" l="l"/>
              <a:pathLst>
                <a:path h="80467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891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&lt;50% (Low)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7827264"/>
            <a:ext cx="7955280" cy="1024128"/>
            <a:chOff x="0" y="0"/>
            <a:chExt cx="10607040" cy="13655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070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7845552"/>
            <a:ext cx="7680960" cy="987552"/>
            <a:chOff x="0" y="0"/>
            <a:chExt cx="10241280" cy="13167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  Internship success falls from 26.6% (2023-H1) to 12.2% (2024) — worsening competition over time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35440" y="7827264"/>
            <a:ext cx="7955280" cy="1024128"/>
            <a:chOff x="0" y="0"/>
            <a:chExt cx="10607040" cy="1365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418320" y="7845552"/>
            <a:ext cx="7680960" cy="987552"/>
            <a:chOff x="0" y="0"/>
            <a:chExt cx="10241280" cy="1316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  Competitions spike to 98.2% in 2024 — underutilised, high-demand opportunity type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8961120"/>
            <a:ext cx="7955280" cy="1024128"/>
            <a:chOff x="0" y="0"/>
            <a:chExt cx="10607040" cy="13655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70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8979408"/>
            <a:ext cx="7680960" cy="987552"/>
            <a:chOff x="0" y="0"/>
            <a:chExt cx="10241280" cy="13167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24128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  Engineering students show the highest Internship probability (32.4%) — strong discipline alignment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35440" y="8961120"/>
            <a:ext cx="7955280" cy="1024128"/>
            <a:chOff x="0" y="0"/>
            <a:chExt cx="10607040" cy="13655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070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18320" y="8979408"/>
            <a:ext cx="7680960" cy="987552"/>
            <a:chOff x="0" y="0"/>
            <a:chExt cx="10241280" cy="13167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  Courses maintain 76–98% across all cohorts and majors — consistently reliable format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74320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799">
                  <a:solidFill>
                    <a:srgbClr val="9EC5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4 DELIVERABLE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3657600"/>
            <a:ext cx="16642080" cy="4023360"/>
            <a:chOff x="0" y="0"/>
            <a:chExt cx="22189440" cy="5364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5364480"/>
            </a:xfrm>
            <a:custGeom>
              <a:avLst/>
              <a:gdLst/>
              <a:ahLst/>
              <a:cxnLst/>
              <a:rect r="r" b="b" t="t" l="l"/>
              <a:pathLst>
                <a:path h="536448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97" r="0" b="-305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0"/>
              <a:ext cx="22189440" cy="555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Strategic</a:t>
              </a:r>
            </a:p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7863840"/>
            <a:ext cx="16459200" cy="914400"/>
            <a:chOff x="0" y="0"/>
            <a:chExt cx="21945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EC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Weeks 1–3 analysis | Scalable | Measurable | Actionable for Program Managers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57096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1E8449"/>
            </a:solidFill>
            <a:ln w="25400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169793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90194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9456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1E84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1 — Scale Immediately (High Impact, Low Risk)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Opportunities predicted ≥85% — highest ROI for program managers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157984"/>
            <a:ext cx="16642080" cy="2286000"/>
            <a:chOff x="0" y="0"/>
            <a:chExt cx="22189440" cy="304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8943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157984"/>
            <a:ext cx="1280160" cy="2286000"/>
            <a:chOff x="0" y="0"/>
            <a:chExt cx="1706880" cy="304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157984"/>
            <a:ext cx="1280160" cy="2286000"/>
            <a:chOff x="0" y="0"/>
            <a:chExt cx="1706880" cy="304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0688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77440" y="2286000"/>
            <a:ext cx="13167360" cy="658368"/>
            <a:chOff x="0" y="0"/>
            <a:chExt cx="1755648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Expand Courses, Events &amp; Engagements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77440" y="2962656"/>
            <a:ext cx="9692640" cy="1280160"/>
            <a:chOff x="0" y="0"/>
            <a:chExt cx="1292352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3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923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These formats achieve 85–97% success with zero dropout. Increase cohort sizes and frequency. Currently serving only 2,712 students — massive headroom to grow.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89536" y="2523744"/>
            <a:ext cx="5120640" cy="1426464"/>
            <a:chOff x="0" y="0"/>
            <a:chExt cx="6827520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8449">
                <a:alpha val="3137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0" y="2523744"/>
            <a:ext cx="5029200" cy="1426464"/>
            <a:chOff x="0" y="0"/>
            <a:chExt cx="6705600" cy="19019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5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97" r="0" b="-186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705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84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  Target: +30% enrollment in Courses by next cycle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4681728"/>
            <a:ext cx="16642080" cy="2286000"/>
            <a:chOff x="0" y="0"/>
            <a:chExt cx="22189440" cy="3048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8943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4681728"/>
            <a:ext cx="1280160" cy="2286000"/>
            <a:chOff x="0" y="0"/>
            <a:chExt cx="1706880" cy="3048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681728"/>
            <a:ext cx="1280160" cy="2286000"/>
            <a:chOff x="0" y="0"/>
            <a:chExt cx="170688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70688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77440" y="4809744"/>
            <a:ext cx="13167360" cy="658368"/>
            <a:chOff x="0" y="0"/>
            <a:chExt cx="17556480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Launch 30-Day Engagement Campaign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377440" y="5486400"/>
            <a:ext cx="9692640" cy="1280160"/>
            <a:chOff x="0" y="0"/>
            <a:chExt cx="1292352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923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923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who apply 30–90 days after signup achieve 53.9% success (+7pp vs baseline). Implement a targeted Day-30 notification: 'Your ideal opportunity is waiting — apply now.'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89536" y="5047488"/>
            <a:ext cx="5120640" cy="1426464"/>
            <a:chOff x="0" y="0"/>
            <a:chExt cx="6827520" cy="19019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8449">
                <a:alpha val="3137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44400" y="5047488"/>
            <a:ext cx="5029200" cy="1426464"/>
            <a:chOff x="0" y="0"/>
            <a:chExt cx="6705600" cy="19019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5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97" r="0" b="-1869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705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84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  Target: Convert 500+ same-day applicants to deliberate cohort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7205472"/>
            <a:ext cx="16642080" cy="2286000"/>
            <a:chOff x="0" y="0"/>
            <a:chExt cx="22189440" cy="3048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18943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5F5E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14400" y="7205472"/>
            <a:ext cx="1280160" cy="2286000"/>
            <a:chOff x="0" y="0"/>
            <a:chExt cx="1706880" cy="3048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7205472"/>
            <a:ext cx="1280160" cy="2286000"/>
            <a:chOff x="0" y="0"/>
            <a:chExt cx="1706880" cy="3048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70688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377440" y="7333488"/>
            <a:ext cx="13167360" cy="658368"/>
            <a:chOff x="0" y="0"/>
            <a:chExt cx="1755648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Promote Health Care Management Model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377440" y="8010144"/>
            <a:ext cx="9692640" cy="1280160"/>
            <a:chOff x="0" y="0"/>
            <a:chExt cx="12923520" cy="17068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923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2923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only Internship with 54.3% predicted probability — more than double the 21.5% average. Investigate host partnership structure, applicant screening, and mentorship model. Replicate across other Internship tracks.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89536" y="7571232"/>
            <a:ext cx="5120640" cy="1426464"/>
            <a:chOff x="0" y="0"/>
            <a:chExt cx="6827520" cy="19019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275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8449">
                <a:alpha val="3137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44400" y="7571232"/>
            <a:ext cx="5029200" cy="1426464"/>
            <a:chOff x="0" y="0"/>
            <a:chExt cx="6705600" cy="19019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05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97" r="0" b="-186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705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84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  Target: Lift 3 Internships above 35% success rate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444503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D4710A"/>
            </a:solidFill>
            <a:ln w="25400" cap="sq">
              <a:solidFill>
                <a:srgbClr val="D4710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457200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912114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9456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D471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2 &amp; 3 — Fix Bottlenecks &amp; Restructure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828800"/>
            <a:ext cx="16642080" cy="2468880"/>
            <a:chOff x="0" y="0"/>
            <a:chExt cx="22189440" cy="3291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94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1828800"/>
            <a:ext cx="1280160" cy="2468880"/>
            <a:chOff x="0" y="0"/>
            <a:chExt cx="1706880" cy="3291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828800"/>
            <a:ext cx="1280160" cy="2468880"/>
            <a:chOff x="0" y="0"/>
            <a:chExt cx="1706880" cy="3291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0688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77440" y="1975104"/>
            <a:ext cx="13167360" cy="658368"/>
            <a:chOff x="0" y="0"/>
            <a:chExt cx="1755648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Address Internship Supply-Demand Gap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77440" y="2670048"/>
            <a:ext cx="9692640" cy="1371600"/>
            <a:chOff x="0" y="0"/>
            <a:chExt cx="1292352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23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923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78–88% of Internship applicants are rejected. Expand host/mentor capacity for Data Visualization (12.8%) and Digital Marketing (11.4%). Alternatively, auto-redirect rejected applicants to equivalent Courses.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89536" y="2194560"/>
            <a:ext cx="5120640" cy="1609344"/>
            <a:chOff x="0" y="0"/>
            <a:chExt cx="6827520" cy="2145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710A">
                <a:alpha val="1961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2194560"/>
            <a:ext cx="5029200" cy="1609344"/>
            <a:chOff x="0" y="0"/>
            <a:chExt cx="6705600" cy="2145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056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7056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4710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 Target: Reduce Internship rejection to &lt;70% within 2 cycles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4535424"/>
            <a:ext cx="16642080" cy="2468880"/>
            <a:chOff x="0" y="0"/>
            <a:chExt cx="22189440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894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DEBD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4535424"/>
            <a:ext cx="1280160" cy="2468880"/>
            <a:chOff x="0" y="0"/>
            <a:chExt cx="1706880" cy="3291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4535424"/>
            <a:ext cx="1280160" cy="2468880"/>
            <a:chOff x="0" y="0"/>
            <a:chExt cx="1706880" cy="329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70688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77440" y="4681728"/>
            <a:ext cx="13167360" cy="658368"/>
            <a:chOff x="0" y="0"/>
            <a:chExt cx="1755648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Stagger Opportunity Release Dates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77440" y="5376672"/>
            <a:ext cx="9692640" cy="1371600"/>
            <a:chOff x="0" y="0"/>
            <a:chExt cx="1292352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923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923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January 2024: 1,509 simultaneous apps at 27% success. Release Internships across 4 quarterly windows. Limit concurrent applications per student to reduce flooding.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89536" y="4901184"/>
            <a:ext cx="5120640" cy="1609344"/>
            <a:chOff x="0" y="0"/>
            <a:chExt cx="6827520" cy="2145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710A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44400" y="4901184"/>
            <a:ext cx="5029200" cy="1609344"/>
            <a:chOff x="0" y="0"/>
            <a:chExt cx="6705600" cy="21457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056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7056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4710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 Target: No single month exceeds 600 apps at &lt;35% success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7242048"/>
            <a:ext cx="16642080" cy="2468880"/>
            <a:chOff x="0" y="0"/>
            <a:chExt cx="22189440" cy="3291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94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ADBD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7242048"/>
            <a:ext cx="1280160" cy="2468880"/>
            <a:chOff x="0" y="0"/>
            <a:chExt cx="1706880" cy="3291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7242048"/>
            <a:ext cx="1280160" cy="2468880"/>
            <a:chOff x="0" y="0"/>
            <a:chExt cx="1706880" cy="329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7442" t="0" r="-19744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70688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377440" y="7388352"/>
            <a:ext cx="13167360" cy="658368"/>
            <a:chOff x="0" y="0"/>
            <a:chExt cx="17556480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55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755648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Launch Post-Placement Dropout Prevention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377440" y="8083296"/>
            <a:ext cx="9692640" cy="1371600"/>
            <a:chOff x="0" y="0"/>
            <a:chExt cx="12923520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923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2923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617 students dropped out — 100% from Internships (11.3% dropout rate). Implement 2-week and 4-week check-ins post-placement. Assign onboarding buddy for Internship participants.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89536" y="7607808"/>
            <a:ext cx="5120640" cy="1609344"/>
            <a:chOff x="0" y="0"/>
            <a:chExt cx="6827520" cy="2145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C0392B">
                <a:alpha val="1961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344400" y="7607808"/>
            <a:ext cx="5029200" cy="1609344"/>
            <a:chOff x="0" y="0"/>
            <a:chExt cx="6705600" cy="2145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056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7056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 Target: Reduce dropout rate from 11.3% to below 6%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711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7097" y="137408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35330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60"/>
                </a:lnSpc>
              </a:pPr>
              <a:r>
                <a:rPr lang="en-US" sz="43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R7 — Geographic Expansion &amp; Diverse Student Profiles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Ensure recommendations are scalable and account for diverse student profiles — Week 4 Guideline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91440" y="1097280"/>
            <a:ext cx="12070080" cy="786384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1338560" y="2103120"/>
            <a:ext cx="6309360" cy="1920240"/>
            <a:chOff x="0" y="0"/>
            <a:chExt cx="8412480" cy="2560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38560" y="2103120"/>
            <a:ext cx="128016" cy="1920240"/>
            <a:chOff x="0" y="0"/>
            <a:chExt cx="170688" cy="2560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58016" y="2212848"/>
            <a:ext cx="5852160" cy="585216"/>
            <a:chOff x="0" y="0"/>
            <a:chExt cx="780288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2880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802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Recruitment Campaign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58016" y="2798064"/>
            <a:ext cx="5852160" cy="1133856"/>
            <a:chOff x="0" y="0"/>
            <a:chExt cx="7802880" cy="15118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02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67" r="0" b="-5056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802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Egypt (78%), Kenya (73.7%), and Pakistan (71.2%) are high-success but underrepresented (&lt;5% of total). Focused outreach could add 200+ high-probability applicants.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38560" y="4242816"/>
            <a:ext cx="6309360" cy="1920240"/>
            <a:chOff x="0" y="0"/>
            <a:chExt cx="8412480" cy="2560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338560" y="4242816"/>
            <a:ext cx="128016" cy="1920240"/>
            <a:chOff x="0" y="0"/>
            <a:chExt cx="170688" cy="2560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558016" y="4352544"/>
            <a:ext cx="5852160" cy="585216"/>
            <a:chOff x="0" y="0"/>
            <a:chExt cx="780288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02880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802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 Applicant Strategy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58016" y="4937760"/>
            <a:ext cx="5852160" cy="1133856"/>
            <a:chOff x="0" y="0"/>
            <a:chExt cx="7802880" cy="15118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02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67" r="0" b="-505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802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 students (46.5% of apps) achieve only 39.5% — below average. This is driven by high Internship concentration. Redirect US applicants toward Courses and Events where success is &gt;90%.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38560" y="6382512"/>
            <a:ext cx="6309360" cy="1920240"/>
            <a:chOff x="0" y="0"/>
            <a:chExt cx="8412480" cy="2560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1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6E4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338560" y="6382512"/>
            <a:ext cx="128016" cy="1920240"/>
            <a:chOff x="0" y="0"/>
            <a:chExt cx="170688" cy="25603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558016" y="6492240"/>
            <a:ext cx="5852160" cy="585216"/>
            <a:chOff x="0" y="0"/>
            <a:chExt cx="780288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0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802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Information Systems Mismatch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58016" y="7077456"/>
            <a:ext cx="5852160" cy="1133856"/>
            <a:chOff x="0" y="0"/>
            <a:chExt cx="780288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2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67" r="0" b="-5056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802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is the most popular major (2,158 records) with only 36.6% success. Build a 'Recommended Opportunities' feature that maps each major to its highest-success opportunity types.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8321040"/>
            <a:ext cx="16642080" cy="1554480"/>
            <a:chOff x="0" y="0"/>
            <a:chExt cx="22189440" cy="2072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894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D6E4F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2189440" cy="2120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4E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Scalability Note: All 6 recommendations above are platform-level changes that apply across all student profiles, countries, and majors — no single-group solution.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440" y="9509760"/>
            <a:ext cx="1828800" cy="548640"/>
            <a:chOff x="0" y="0"/>
            <a:chExt cx="2438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64889"/>
            <a:ext cx="3317243" cy="610619"/>
            <a:chOff x="0" y="0"/>
            <a:chExt cx="4422991" cy="814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3029" cy="814197"/>
            </a:xfrm>
            <a:custGeom>
              <a:avLst/>
              <a:gdLst/>
              <a:ahLst/>
              <a:cxnLst/>
              <a:rect r="r" b="b" t="t" l="l"/>
              <a:pathLst>
                <a:path h="814197" w="442302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4270375" y="0"/>
                  </a:lnTo>
                  <a:cubicBezTo>
                    <a:pt x="4354703" y="0"/>
                    <a:pt x="4423029" y="68326"/>
                    <a:pt x="4423029" y="152654"/>
                  </a:cubicBezTo>
                  <a:lnTo>
                    <a:pt x="4423029" y="661543"/>
                  </a:lnTo>
                  <a:cubicBezTo>
                    <a:pt x="4423029" y="745871"/>
                    <a:pt x="4354703" y="814197"/>
                    <a:pt x="4270375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5B2C8C"/>
            </a:solidFill>
            <a:ln w="25400" cap="sq">
              <a:solidFill>
                <a:srgbClr val="5B2C8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77585"/>
            <a:ext cx="3291840" cy="585216"/>
            <a:chOff x="0" y="0"/>
            <a:chExt cx="4389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MEASURING IMPACT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749808"/>
            <a:ext cx="16459200" cy="1005840"/>
            <a:chOff x="0" y="0"/>
            <a:chExt cx="219456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9456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to Measure the Impact of These Improvements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KPIs and success metrics — track within 1–2 program cycles after implementation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103120"/>
          <a:ext cx="16611600" cy="7315200"/>
        </p:xfrm>
        <a:graphic>
          <a:graphicData uri="http://schemas.openxmlformats.org/drawingml/2006/table">
            <a:tbl>
              <a:tblPr/>
              <a:tblGrid>
                <a:gridCol w="1019302"/>
                <a:gridCol w="4198314"/>
                <a:gridCol w="4561630"/>
                <a:gridCol w="6832353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KPI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How to Track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 Success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47.2% → 55%+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Track (Team Allocated + Started) / Total Applications per cycle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Deliberate Applicant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10% → 25%+ of apps in 30-90d window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Monitor Days_To_Apply distribution monthly post-campaign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Internship Outlier Replication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→ 3 Internships above 35% success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Track individual Internship success rates quarterly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Internship Rejection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78–88% → below 70%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Monitor rejection count vs total apps per Internship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Monthly Application Spikes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month &gt;600 apps at &lt;35% success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Alert dashboard: flag if any month exceeds threshold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Post-Placement Dropout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11.3% → below 6%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Track dropout count / total placements per Internship cohort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84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4E7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Geographic Diversity Index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D4710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+200 apps from Egypt, Kenya, Pakistan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Monitor country-level application counts per cycle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080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914400"/>
            <a:ext cx="9144000" cy="731520"/>
            <a:chOff x="0" y="0"/>
            <a:chExt cx="121920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192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800">
                  <a:solidFill>
                    <a:srgbClr val="9EC5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737360"/>
            <a:ext cx="16642080" cy="3291840"/>
            <a:chOff x="0" y="0"/>
            <a:chExt cx="22189440" cy="4389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4389120"/>
            </a:xfrm>
            <a:custGeom>
              <a:avLst/>
              <a:gdLst/>
              <a:ahLst/>
              <a:cxnLst/>
              <a:rect r="r" b="b" t="t" l="l"/>
              <a:pathLst>
                <a:path h="4389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22189440" cy="453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Found.</a:t>
              </a:r>
            </a:p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To Do Next.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5394960"/>
            <a:ext cx="5303520" cy="4023360"/>
            <a:chOff x="0" y="0"/>
            <a:chExt cx="7071360" cy="536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5394960"/>
            <a:ext cx="5303520" cy="768096"/>
            <a:chOff x="0" y="0"/>
            <a:chExt cx="707136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75B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5394960"/>
            <a:ext cx="5303520" cy="768096"/>
            <a:chOff x="0" y="0"/>
            <a:chExt cx="707136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713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Foundation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60" y="6206871"/>
            <a:ext cx="484632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8,558 records cleaned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22 opportunities analysed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13 features engineered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fully ML-ready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75120" y="5394960"/>
            <a:ext cx="5303520" cy="4023360"/>
            <a:chOff x="0" y="0"/>
            <a:chExt cx="7071360" cy="536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75120" y="5394960"/>
            <a:ext cx="5303520" cy="768096"/>
            <a:chOff x="0" y="0"/>
            <a:chExt cx="707136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75120" y="5394960"/>
            <a:ext cx="5303520" cy="768096"/>
            <a:chOff x="0" y="0"/>
            <a:chExt cx="707136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713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49440" y="6206871"/>
            <a:ext cx="484632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AUC-ROC: 0.985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94.3% (RF)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Ensemble: XGB+RF+LR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overfitting confirmed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44400" y="5394960"/>
            <a:ext cx="5303520" cy="4023360"/>
            <a:chOff x="0" y="0"/>
            <a:chExt cx="7071360" cy="536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5394960"/>
            <a:ext cx="5303520" cy="768096"/>
            <a:chOff x="0" y="0"/>
            <a:chExt cx="707136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4710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0" y="5394960"/>
            <a:ext cx="5303520" cy="768096"/>
            <a:chOff x="0" y="0"/>
            <a:chExt cx="707136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0713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Opportunities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618720" y="6206871"/>
            <a:ext cx="484632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Courses: 92–97% success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Competitions: 84–98%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Internships: 12–55%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Care Mgmt outlier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5840" y="9473184"/>
            <a:ext cx="16642080" cy="694944"/>
            <a:chOff x="0" y="0"/>
            <a:chExt cx="2218944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89439" cy="926592"/>
            </a:xfrm>
            <a:custGeom>
              <a:avLst/>
              <a:gdLst/>
              <a:ahLst/>
              <a:cxnLst/>
              <a:rect r="r" b="b" t="t" l="l"/>
              <a:pathLst>
                <a:path h="9265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9473184"/>
            <a:ext cx="16642080" cy="694944"/>
            <a:chOff x="0" y="0"/>
            <a:chExt cx="22189440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89439" cy="926592"/>
            </a:xfrm>
            <a:custGeom>
              <a:avLst/>
              <a:gdLst/>
              <a:ahLst/>
              <a:cxnLst/>
              <a:rect r="r" b="b" t="t" l="l"/>
              <a:pathLst>
                <a:path h="9265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615" r="0" b="-4166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18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Actionable Recommendations  |  7 Measurable KPIs  |  Ready for Implementation  |  RIT Data Insight Internship — Week 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8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0939" y="3412407"/>
            <a:ext cx="12466121" cy="4081621"/>
            <a:chOff x="0" y="0"/>
            <a:chExt cx="3283258" cy="1074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3258" cy="1074995"/>
            </a:xfrm>
            <a:custGeom>
              <a:avLst/>
              <a:gdLst/>
              <a:ahLst/>
              <a:cxnLst/>
              <a:rect r="r" b="b" t="t" l="l"/>
              <a:pathLst>
                <a:path h="1074995" w="3283258">
                  <a:moveTo>
                    <a:pt x="31673" y="0"/>
                  </a:moveTo>
                  <a:lnTo>
                    <a:pt x="3251585" y="0"/>
                  </a:lnTo>
                  <a:cubicBezTo>
                    <a:pt x="3269078" y="0"/>
                    <a:pt x="3283258" y="14180"/>
                    <a:pt x="3283258" y="31673"/>
                  </a:cubicBezTo>
                  <a:lnTo>
                    <a:pt x="3283258" y="1043322"/>
                  </a:lnTo>
                  <a:cubicBezTo>
                    <a:pt x="3283258" y="1051722"/>
                    <a:pt x="3279921" y="1059778"/>
                    <a:pt x="3273982" y="1065718"/>
                  </a:cubicBezTo>
                  <a:cubicBezTo>
                    <a:pt x="3268042" y="1071658"/>
                    <a:pt x="3259986" y="1074995"/>
                    <a:pt x="3251585" y="1074995"/>
                  </a:cubicBezTo>
                  <a:lnTo>
                    <a:pt x="31673" y="1074995"/>
                  </a:lnTo>
                  <a:cubicBezTo>
                    <a:pt x="23273" y="1074995"/>
                    <a:pt x="15217" y="1071658"/>
                    <a:pt x="9277" y="1065718"/>
                  </a:cubicBezTo>
                  <a:cubicBezTo>
                    <a:pt x="3337" y="1059778"/>
                    <a:pt x="0" y="1051722"/>
                    <a:pt x="0" y="1043322"/>
                  </a:cubicBezTo>
                  <a:lnTo>
                    <a:pt x="0" y="31673"/>
                  </a:lnTo>
                  <a:cubicBezTo>
                    <a:pt x="0" y="14180"/>
                    <a:pt x="14180" y="0"/>
                    <a:pt x="31673" y="0"/>
                  </a:cubicBez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283258" cy="108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039"/>
                </a:lnSpc>
              </a:pPr>
              <a:r>
                <a:rPr lang="en-US" b="true" sz="6699" u="sng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2" tooltip="https://drive.google.com/file/d/1h4HZKdJRT7b0QVHJvefH0o15liKuR8yX/view?usp=sharing"/>
                </a:rPr>
                <a:t>Final Presentation Recording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01980" y="2395085"/>
            <a:ext cx="4663942" cy="2034645"/>
          </a:xfrm>
          <a:custGeom>
            <a:avLst/>
            <a:gdLst/>
            <a:ahLst/>
            <a:cxnLst/>
            <a:rect r="r" b="b" t="t" l="l"/>
            <a:pathLst>
              <a:path h="2034645" w="4663942">
                <a:moveTo>
                  <a:pt x="0" y="0"/>
                </a:moveTo>
                <a:lnTo>
                  <a:pt x="4663943" y="0"/>
                </a:lnTo>
                <a:lnTo>
                  <a:pt x="4663943" y="2034644"/>
                </a:lnTo>
                <a:lnTo>
                  <a:pt x="0" y="203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6973" y="7854543"/>
            <a:ext cx="1086156" cy="995191"/>
          </a:xfrm>
          <a:custGeom>
            <a:avLst/>
            <a:gdLst/>
            <a:ahLst/>
            <a:cxnLst/>
            <a:rect r="r" b="b" t="t" l="l"/>
            <a:pathLst>
              <a:path h="995191" w="1086156">
                <a:moveTo>
                  <a:pt x="0" y="0"/>
                </a:moveTo>
                <a:lnTo>
                  <a:pt x="1086156" y="0"/>
                </a:lnTo>
                <a:lnTo>
                  <a:pt x="1086156" y="995191"/>
                </a:lnTo>
                <a:lnTo>
                  <a:pt x="0" y="9951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50111" y="8107665"/>
            <a:ext cx="14115812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https://drive.google.com/file/d/1h4HZKdJRT7b0QVHJvefH0o15liKuR8yX/view?usp=sharing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DAHLnWJS49Q</dc:identifier>
  <dcterms:modified xsi:type="dcterms:W3CDTF">2011-08-01T06:04:30Z</dcterms:modified>
  <cp:revision>1</cp:revision>
  <dc:title>Final Presentation Recording</dc:title>
</cp:coreProperties>
</file>